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3" d="100"/>
          <a:sy n="153" d="100"/>
        </p:scale>
        <p:origin x="576"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8095B135-5CD4-4C9D-B498-1936972B9AC9}" type="datetimeFigureOut">
              <a:rPr lang="en-US" smtClean="0"/>
              <a:t>12/15/2024</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C6C2D588-98AB-446A-BB81-4AA3C509A9F3}" type="slidenum">
              <a:rPr lang="en-US" smtClean="0"/>
              <a:t>‹#›</a:t>
            </a:fld>
            <a:endParaRPr lang="en-US"/>
          </a:p>
        </p:txBody>
      </p:sp>
    </p:spTree>
    <p:extLst>
      <p:ext uri="{BB962C8B-B14F-4D97-AF65-F5344CB8AC3E}">
        <p14:creationId xmlns:p14="http://schemas.microsoft.com/office/powerpoint/2010/main" val="2445453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95B135-5CD4-4C9D-B498-1936972B9AC9}" type="datetimeFigureOut">
              <a:rPr lang="en-US" smtClean="0"/>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C2D588-98AB-446A-BB81-4AA3C509A9F3}" type="slidenum">
              <a:rPr lang="en-US" smtClean="0"/>
              <a:t>‹#›</a:t>
            </a:fld>
            <a:endParaRPr lang="en-US"/>
          </a:p>
        </p:txBody>
      </p:sp>
    </p:spTree>
    <p:extLst>
      <p:ext uri="{BB962C8B-B14F-4D97-AF65-F5344CB8AC3E}">
        <p14:creationId xmlns:p14="http://schemas.microsoft.com/office/powerpoint/2010/main" val="18595136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095B135-5CD4-4C9D-B498-1936972B9AC9}" type="datetimeFigureOut">
              <a:rPr lang="en-US" smtClean="0"/>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C2D588-98AB-446A-BB81-4AA3C509A9F3}" type="slidenum">
              <a:rPr lang="en-US" smtClean="0"/>
              <a:t>‹#›</a:t>
            </a:fld>
            <a:endParaRPr lang="en-US"/>
          </a:p>
        </p:txBody>
      </p:sp>
    </p:spTree>
    <p:extLst>
      <p:ext uri="{BB962C8B-B14F-4D97-AF65-F5344CB8AC3E}">
        <p14:creationId xmlns:p14="http://schemas.microsoft.com/office/powerpoint/2010/main" val="282913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095B135-5CD4-4C9D-B498-1936972B9AC9}" type="datetimeFigureOut">
              <a:rPr lang="en-US" smtClean="0"/>
              <a:t>12/15/2024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C2D588-98AB-446A-BB81-4AA3C509A9F3}" type="slidenum">
              <a:rPr lang="en-US" smtClean="0"/>
              <a:t>‹#›</a:t>
            </a:fld>
            <a:endParaRPr lang="en-US"/>
          </a:p>
        </p:txBody>
      </p:sp>
    </p:spTree>
    <p:extLst>
      <p:ext uri="{BB962C8B-B14F-4D97-AF65-F5344CB8AC3E}">
        <p14:creationId xmlns:p14="http://schemas.microsoft.com/office/powerpoint/2010/main" val="3925051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095B135-5CD4-4C9D-B498-1936972B9AC9}" type="datetimeFigureOut">
              <a:rPr lang="en-US" smtClean="0"/>
              <a:t>12/15/2024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6C2D588-98AB-446A-BB81-4AA3C509A9F3}" type="slidenum">
              <a:rPr lang="en-US" smtClean="0"/>
              <a:t>‹#›</a:t>
            </a:fld>
            <a:endParaRPr lang="en-US"/>
          </a:p>
        </p:txBody>
      </p:sp>
    </p:spTree>
    <p:extLst>
      <p:ext uri="{BB962C8B-B14F-4D97-AF65-F5344CB8AC3E}">
        <p14:creationId xmlns:p14="http://schemas.microsoft.com/office/powerpoint/2010/main" val="14543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095B135-5CD4-4C9D-B498-1936972B9AC9}" type="datetimeFigureOut">
              <a:rPr lang="en-US" smtClean="0"/>
              <a:t>12/15/2024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6C2D588-98AB-446A-BB81-4AA3C509A9F3}" type="slidenum">
              <a:rPr lang="en-US" smtClean="0"/>
              <a:t>‹#›</a:t>
            </a:fld>
            <a:endParaRPr lang="en-US"/>
          </a:p>
        </p:txBody>
      </p:sp>
    </p:spTree>
    <p:extLst>
      <p:ext uri="{BB962C8B-B14F-4D97-AF65-F5344CB8AC3E}">
        <p14:creationId xmlns:p14="http://schemas.microsoft.com/office/powerpoint/2010/main" val="3033584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95B135-5CD4-4C9D-B498-1936972B9AC9}" type="datetimeFigureOut">
              <a:rPr lang="en-US" smtClean="0"/>
              <a:t>12/15/2024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6C2D588-98AB-446A-BB81-4AA3C509A9F3}" type="slidenum">
              <a:rPr lang="en-US" smtClean="0"/>
              <a:t>‹#›</a:t>
            </a:fld>
            <a:endParaRPr lang="en-US"/>
          </a:p>
        </p:txBody>
      </p:sp>
    </p:spTree>
    <p:extLst>
      <p:ext uri="{BB962C8B-B14F-4D97-AF65-F5344CB8AC3E}">
        <p14:creationId xmlns:p14="http://schemas.microsoft.com/office/powerpoint/2010/main" val="20037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095B135-5CD4-4C9D-B498-1936972B9AC9}" type="datetimeFigureOut">
              <a:rPr lang="en-US" smtClean="0"/>
              <a:t>12/15/2024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C2D588-98AB-446A-BB81-4AA3C509A9F3}" type="slidenum">
              <a:rPr lang="en-US" smtClean="0"/>
              <a:t>‹#›</a:t>
            </a:fld>
            <a:endParaRPr lang="en-US"/>
          </a:p>
        </p:txBody>
      </p:sp>
    </p:spTree>
    <p:extLst>
      <p:ext uri="{BB962C8B-B14F-4D97-AF65-F5344CB8AC3E}">
        <p14:creationId xmlns:p14="http://schemas.microsoft.com/office/powerpoint/2010/main" val="3675409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095B135-5CD4-4C9D-B498-1936972B9AC9}" type="datetimeFigureOut">
              <a:rPr lang="en-US" smtClean="0"/>
              <a:t>12/15/2024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C2D588-98AB-446A-BB81-4AA3C509A9F3}" type="slidenum">
              <a:rPr lang="en-US" smtClean="0"/>
              <a:t>‹#›</a:t>
            </a:fld>
            <a:endParaRPr lang="en-US"/>
          </a:p>
        </p:txBody>
      </p:sp>
    </p:spTree>
    <p:extLst>
      <p:ext uri="{BB962C8B-B14F-4D97-AF65-F5344CB8AC3E}">
        <p14:creationId xmlns:p14="http://schemas.microsoft.com/office/powerpoint/2010/main" val="36326809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095B135-5CD4-4C9D-B498-1936972B9AC9}" type="datetimeFigureOut">
              <a:rPr lang="en-US" smtClean="0"/>
              <a:t>12/15/2024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C2D588-98AB-446A-BB81-4AA3C509A9F3}" type="slidenum">
              <a:rPr lang="en-US" smtClean="0"/>
              <a:t>‹#›</a:t>
            </a:fld>
            <a:endParaRPr lang="en-US"/>
          </a:p>
        </p:txBody>
      </p:sp>
    </p:spTree>
    <p:extLst>
      <p:ext uri="{BB962C8B-B14F-4D97-AF65-F5344CB8AC3E}">
        <p14:creationId xmlns:p14="http://schemas.microsoft.com/office/powerpoint/2010/main" val="684084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095B135-5CD4-4C9D-B498-1936972B9AC9}" type="datetimeFigureOut">
              <a:rPr lang="en-US" smtClean="0"/>
              <a:t>12/15/2024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C2D588-98AB-446A-BB81-4AA3C509A9F3}" type="slidenum">
              <a:rPr lang="en-US" smtClean="0"/>
              <a:t>‹#›</a:t>
            </a:fld>
            <a:endParaRPr lang="en-US"/>
          </a:p>
        </p:txBody>
      </p:sp>
    </p:spTree>
    <p:extLst>
      <p:ext uri="{BB962C8B-B14F-4D97-AF65-F5344CB8AC3E}">
        <p14:creationId xmlns:p14="http://schemas.microsoft.com/office/powerpoint/2010/main" val="18651138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095B135-5CD4-4C9D-B498-1936972B9AC9}" type="datetimeFigureOut">
              <a:rPr lang="en-US" smtClean="0"/>
              <a:t>12/15/2024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C2D588-98AB-446A-BB81-4AA3C509A9F3}"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081076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095B135-5CD4-4C9D-B498-1936972B9AC9}" type="datetimeFigureOut">
              <a:rPr lang="en-US" smtClean="0"/>
              <a:t>12/15/2024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6C2D588-98AB-446A-BB81-4AA3C509A9F3}" type="slidenum">
              <a:rPr lang="en-US" smtClean="0"/>
              <a:t>‹#›</a:t>
            </a:fld>
            <a:endParaRPr lang="en-US"/>
          </a:p>
        </p:txBody>
      </p:sp>
    </p:spTree>
    <p:extLst>
      <p:ext uri="{BB962C8B-B14F-4D97-AF65-F5344CB8AC3E}">
        <p14:creationId xmlns:p14="http://schemas.microsoft.com/office/powerpoint/2010/main" val="31257342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095B135-5CD4-4C9D-B498-1936972B9AC9}" type="datetimeFigureOut">
              <a:rPr lang="en-US" smtClean="0"/>
              <a:t>12/15/2024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6C2D588-98AB-446A-BB81-4AA3C509A9F3}" type="slidenum">
              <a:rPr lang="en-US" smtClean="0"/>
              <a:t>‹#›</a:t>
            </a:fld>
            <a:endParaRPr lang="en-US"/>
          </a:p>
        </p:txBody>
      </p:sp>
    </p:spTree>
    <p:extLst>
      <p:ext uri="{BB962C8B-B14F-4D97-AF65-F5344CB8AC3E}">
        <p14:creationId xmlns:p14="http://schemas.microsoft.com/office/powerpoint/2010/main" val="22709778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095B135-5CD4-4C9D-B498-1936972B9AC9}" type="datetimeFigureOut">
              <a:rPr lang="en-US" smtClean="0"/>
              <a:t>12/15/2024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6C2D588-98AB-446A-BB81-4AA3C509A9F3}" type="slidenum">
              <a:rPr lang="en-US" smtClean="0"/>
              <a:t>‹#›</a:t>
            </a:fld>
            <a:endParaRPr lang="en-US"/>
          </a:p>
        </p:txBody>
      </p:sp>
    </p:spTree>
    <p:extLst>
      <p:ext uri="{BB962C8B-B14F-4D97-AF65-F5344CB8AC3E}">
        <p14:creationId xmlns:p14="http://schemas.microsoft.com/office/powerpoint/2010/main" val="28207796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95B135-5CD4-4C9D-B498-1936972B9AC9}" type="datetimeFigureOut">
              <a:rPr lang="en-US" smtClean="0"/>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C2D588-98AB-446A-BB81-4AA3C509A9F3}" type="slidenum">
              <a:rPr lang="en-US" smtClean="0"/>
              <a:t>‹#›</a:t>
            </a:fld>
            <a:endParaRPr lang="en-US"/>
          </a:p>
        </p:txBody>
      </p:sp>
    </p:spTree>
    <p:extLst>
      <p:ext uri="{BB962C8B-B14F-4D97-AF65-F5344CB8AC3E}">
        <p14:creationId xmlns:p14="http://schemas.microsoft.com/office/powerpoint/2010/main" val="376568559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95B135-5CD4-4C9D-B498-1936972B9AC9}" type="datetimeFigureOut">
              <a:rPr lang="en-US" smtClean="0"/>
              <a:t>12/15/2024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6C2D588-98AB-446A-BB81-4AA3C509A9F3}" type="slidenum">
              <a:rPr lang="en-US" smtClean="0"/>
              <a:t>‹#›</a:t>
            </a:fld>
            <a:endParaRPr lang="en-US"/>
          </a:p>
        </p:txBody>
      </p:sp>
    </p:spTree>
    <p:extLst>
      <p:ext uri="{BB962C8B-B14F-4D97-AF65-F5344CB8AC3E}">
        <p14:creationId xmlns:p14="http://schemas.microsoft.com/office/powerpoint/2010/main" val="3305613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095B135-5CD4-4C9D-B498-1936972B9AC9}" type="datetimeFigureOut">
              <a:rPr lang="en-US" smtClean="0"/>
              <a:t>12/15/2024</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6C2D588-98AB-446A-BB81-4AA3C509A9F3}" type="slidenum">
              <a:rPr lang="en-US" smtClean="0"/>
              <a:t>‹#›</a:t>
            </a:fld>
            <a:endParaRPr lang="en-US"/>
          </a:p>
        </p:txBody>
      </p:sp>
    </p:spTree>
    <p:extLst>
      <p:ext uri="{BB962C8B-B14F-4D97-AF65-F5344CB8AC3E}">
        <p14:creationId xmlns:p14="http://schemas.microsoft.com/office/powerpoint/2010/main" val="176392068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B5EB4-CDE4-C955-D8D0-EC3CA29B6F42}"/>
              </a:ext>
            </a:extLst>
          </p:cNvPr>
          <p:cNvSpPr>
            <a:spLocks noGrp="1"/>
          </p:cNvSpPr>
          <p:nvPr>
            <p:ph type="ctrTitle"/>
          </p:nvPr>
        </p:nvSpPr>
        <p:spPr/>
        <p:txBody>
          <a:bodyPr/>
          <a:lstStyle/>
          <a:p>
            <a:r>
              <a:rPr lang="en-US" dirty="0"/>
              <a:t>Ryan Blackburn</a:t>
            </a:r>
          </a:p>
        </p:txBody>
      </p:sp>
      <p:sp>
        <p:nvSpPr>
          <p:cNvPr id="3" name="Subtitle 2">
            <a:extLst>
              <a:ext uri="{FF2B5EF4-FFF2-40B4-BE49-F238E27FC236}">
                <a16:creationId xmlns:a16="http://schemas.microsoft.com/office/drawing/2014/main" id="{6030B920-BA67-0E25-5589-F51F62528AA4}"/>
              </a:ext>
            </a:extLst>
          </p:cNvPr>
          <p:cNvSpPr>
            <a:spLocks noGrp="1"/>
          </p:cNvSpPr>
          <p:nvPr>
            <p:ph type="subTitle" idx="1"/>
          </p:nvPr>
        </p:nvSpPr>
        <p:spPr/>
        <p:txBody>
          <a:bodyPr/>
          <a:lstStyle/>
          <a:p>
            <a:r>
              <a:rPr lang="en-US" dirty="0"/>
              <a:t>CS-250 Agile Presentation</a:t>
            </a:r>
          </a:p>
        </p:txBody>
      </p:sp>
    </p:spTree>
    <p:extLst>
      <p:ext uri="{BB962C8B-B14F-4D97-AF65-F5344CB8AC3E}">
        <p14:creationId xmlns:p14="http://schemas.microsoft.com/office/powerpoint/2010/main" val="88204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EF01C-AC68-09D7-7169-D8E5A4188BB3}"/>
              </a:ext>
            </a:extLst>
          </p:cNvPr>
          <p:cNvSpPr>
            <a:spLocks noGrp="1"/>
          </p:cNvSpPr>
          <p:nvPr>
            <p:ph type="title"/>
          </p:nvPr>
        </p:nvSpPr>
        <p:spPr/>
        <p:txBody>
          <a:bodyPr/>
          <a:lstStyle/>
          <a:p>
            <a:r>
              <a:rPr lang="en-US" dirty="0"/>
              <a:t>Agile methodology</a:t>
            </a:r>
          </a:p>
        </p:txBody>
      </p:sp>
      <p:sp>
        <p:nvSpPr>
          <p:cNvPr id="3" name="Content Placeholder 2">
            <a:extLst>
              <a:ext uri="{FF2B5EF4-FFF2-40B4-BE49-F238E27FC236}">
                <a16:creationId xmlns:a16="http://schemas.microsoft.com/office/drawing/2014/main" id="{A4F7F655-A552-821E-623B-C98409DF253A}"/>
              </a:ext>
            </a:extLst>
          </p:cNvPr>
          <p:cNvSpPr>
            <a:spLocks noGrp="1"/>
          </p:cNvSpPr>
          <p:nvPr>
            <p:ph idx="1"/>
          </p:nvPr>
        </p:nvSpPr>
        <p:spPr/>
        <p:txBody>
          <a:bodyPr/>
          <a:lstStyle/>
          <a:p>
            <a:r>
              <a:rPr lang="en-US" dirty="0"/>
              <a:t>Evaluating Scrum-Agile – </a:t>
            </a:r>
            <a:r>
              <a:rPr lang="en-US" dirty="0" err="1"/>
              <a:t>ChadaTech</a:t>
            </a:r>
            <a:endParaRPr lang="en-US" dirty="0"/>
          </a:p>
          <a:p>
            <a:pPr lvl="1"/>
            <a:r>
              <a:rPr lang="en-US" dirty="0"/>
              <a:t>Agile is a flexible, iterative approach to project management which prioritizes collaboration, adaptability and continuous feedback to create a seamless development environment.</a:t>
            </a:r>
          </a:p>
          <a:p>
            <a:pPr lvl="1"/>
            <a:endParaRPr lang="en-US" dirty="0"/>
          </a:p>
          <a:p>
            <a:endParaRPr lang="en-US" dirty="0"/>
          </a:p>
          <a:p>
            <a:endParaRPr lang="en-US" dirty="0"/>
          </a:p>
        </p:txBody>
      </p:sp>
    </p:spTree>
    <p:extLst>
      <p:ext uri="{BB962C8B-B14F-4D97-AF65-F5344CB8AC3E}">
        <p14:creationId xmlns:p14="http://schemas.microsoft.com/office/powerpoint/2010/main" val="3601013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73E73-F376-37A1-9C55-B0ED4FF4D9A7}"/>
              </a:ext>
            </a:extLst>
          </p:cNvPr>
          <p:cNvSpPr>
            <a:spLocks noGrp="1"/>
          </p:cNvSpPr>
          <p:nvPr>
            <p:ph type="title"/>
          </p:nvPr>
        </p:nvSpPr>
        <p:spPr/>
        <p:txBody>
          <a:bodyPr/>
          <a:lstStyle/>
          <a:p>
            <a:r>
              <a:rPr lang="en-US" dirty="0"/>
              <a:t>Agile Roles</a:t>
            </a:r>
          </a:p>
        </p:txBody>
      </p:sp>
      <p:sp>
        <p:nvSpPr>
          <p:cNvPr id="3" name="Content Placeholder 2">
            <a:extLst>
              <a:ext uri="{FF2B5EF4-FFF2-40B4-BE49-F238E27FC236}">
                <a16:creationId xmlns:a16="http://schemas.microsoft.com/office/drawing/2014/main" id="{B6045483-A618-A783-D03E-4588A86A127F}"/>
              </a:ext>
            </a:extLst>
          </p:cNvPr>
          <p:cNvSpPr>
            <a:spLocks noGrp="1"/>
          </p:cNvSpPr>
          <p:nvPr>
            <p:ph idx="1"/>
          </p:nvPr>
        </p:nvSpPr>
        <p:spPr/>
        <p:txBody>
          <a:bodyPr/>
          <a:lstStyle/>
          <a:p>
            <a:r>
              <a:rPr lang="en-US" dirty="0"/>
              <a:t>Scrum Master - Facilitates Scrum events, such as stand-ups and sprint reviews; removes blockers; and ensures team alignment.</a:t>
            </a:r>
          </a:p>
          <a:p>
            <a:r>
              <a:rPr lang="en-US" dirty="0"/>
              <a:t>Product Owner - Manages the product backlog, prioritizes features, and bridges communication between stakeholders and the team.</a:t>
            </a:r>
          </a:p>
          <a:p>
            <a:r>
              <a:rPr lang="en-US" dirty="0"/>
              <a:t>Developers - Implements user stories, collaborates with testers, and delivers working software incrementally</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106409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4D2A4-45A1-166E-78F2-E0D320B73EFE}"/>
              </a:ext>
            </a:extLst>
          </p:cNvPr>
          <p:cNvSpPr>
            <a:spLocks noGrp="1"/>
          </p:cNvSpPr>
          <p:nvPr>
            <p:ph type="title"/>
          </p:nvPr>
        </p:nvSpPr>
        <p:spPr/>
        <p:txBody>
          <a:bodyPr/>
          <a:lstStyle/>
          <a:p>
            <a:r>
              <a:rPr lang="en-US" dirty="0"/>
              <a:t>Agile Phases</a:t>
            </a:r>
          </a:p>
        </p:txBody>
      </p:sp>
      <p:sp>
        <p:nvSpPr>
          <p:cNvPr id="3" name="Content Placeholder 2">
            <a:extLst>
              <a:ext uri="{FF2B5EF4-FFF2-40B4-BE49-F238E27FC236}">
                <a16:creationId xmlns:a16="http://schemas.microsoft.com/office/drawing/2014/main" id="{409FCBB7-86B1-3ADE-A738-F42EC10ED49C}"/>
              </a:ext>
            </a:extLst>
          </p:cNvPr>
          <p:cNvSpPr>
            <a:spLocks noGrp="1"/>
          </p:cNvSpPr>
          <p:nvPr>
            <p:ph idx="1"/>
          </p:nvPr>
        </p:nvSpPr>
        <p:spPr/>
        <p:txBody>
          <a:bodyPr>
            <a:normAutofit fontScale="92500" lnSpcReduction="20000"/>
          </a:bodyPr>
          <a:lstStyle/>
          <a:p>
            <a:r>
              <a:rPr lang="en-US" dirty="0"/>
              <a:t>Planning: Identify objectives and prioritize tasks to align with stakeholder goals.</a:t>
            </a:r>
          </a:p>
          <a:p>
            <a:r>
              <a:rPr lang="en-US" dirty="0"/>
              <a:t>User Stories: Break down features into actionable stories for development.</a:t>
            </a:r>
          </a:p>
          <a:p>
            <a:r>
              <a:rPr lang="en-US" dirty="0"/>
              <a:t>Daily Scrums: Ensure consistent communication and tackle blockers efficiently.</a:t>
            </a:r>
          </a:p>
          <a:p>
            <a:r>
              <a:rPr lang="en-US" dirty="0"/>
              <a:t>Testing and Iterative Feedback: Validate software increments and incorporate stakeholder input.</a:t>
            </a:r>
          </a:p>
          <a:p>
            <a:r>
              <a:rPr lang="en-US" dirty="0"/>
              <a:t>Retrospectives: Reflect on team performance to foster continuous improvement.</a:t>
            </a:r>
          </a:p>
          <a:p>
            <a:r>
              <a:rPr lang="en-US" dirty="0"/>
              <a:t>Sprints: Deliver usable software in defined timeframes, maintaining focus and adaptability.</a:t>
            </a:r>
          </a:p>
        </p:txBody>
      </p:sp>
    </p:spTree>
    <p:extLst>
      <p:ext uri="{BB962C8B-B14F-4D97-AF65-F5344CB8AC3E}">
        <p14:creationId xmlns:p14="http://schemas.microsoft.com/office/powerpoint/2010/main" val="14557492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9794ED-46CF-74F4-E6CB-1EEC89E88B7B}"/>
              </a:ext>
            </a:extLst>
          </p:cNvPr>
          <p:cNvSpPr>
            <a:spLocks noGrp="1"/>
          </p:cNvSpPr>
          <p:nvPr>
            <p:ph type="title"/>
          </p:nvPr>
        </p:nvSpPr>
        <p:spPr/>
        <p:txBody>
          <a:bodyPr/>
          <a:lstStyle/>
          <a:p>
            <a:r>
              <a:rPr lang="en-US" dirty="0"/>
              <a:t>Comparison to Waterfall Model</a:t>
            </a:r>
          </a:p>
        </p:txBody>
      </p:sp>
      <p:sp>
        <p:nvSpPr>
          <p:cNvPr id="3" name="Content Placeholder 2">
            <a:extLst>
              <a:ext uri="{FF2B5EF4-FFF2-40B4-BE49-F238E27FC236}">
                <a16:creationId xmlns:a16="http://schemas.microsoft.com/office/drawing/2014/main" id="{70CBBAB8-F3F6-1D45-3CCB-DC1DE15E8379}"/>
              </a:ext>
            </a:extLst>
          </p:cNvPr>
          <p:cNvSpPr>
            <a:spLocks noGrp="1"/>
          </p:cNvSpPr>
          <p:nvPr>
            <p:ph idx="1"/>
          </p:nvPr>
        </p:nvSpPr>
        <p:spPr/>
        <p:txBody>
          <a:bodyPr>
            <a:normAutofit fontScale="92500" lnSpcReduction="20000"/>
          </a:bodyPr>
          <a:lstStyle/>
          <a:p>
            <a:r>
              <a:rPr lang="en-US" dirty="0"/>
              <a:t>Waterfall: Begins with a fixed scope and phases of development which are sequential and not adaptable. Long development cycles, which can sometimes delay feedback.</a:t>
            </a:r>
          </a:p>
          <a:p>
            <a:r>
              <a:rPr lang="en-US" dirty="0"/>
              <a:t>Agile: Iterative and adaptable, allowing for continuous delivery adhering to client needs.</a:t>
            </a:r>
          </a:p>
          <a:p>
            <a:r>
              <a:rPr lang="en-US" dirty="0"/>
              <a:t>Scenario: Had SNHU’s Travel focus on wellness and detox shifted mid-project under Waterfall, a much higher share of work that had already been completed would have needed to be scrapped and redesigned with the new emphasis. This would cause major delays and incur significant costs over budget.</a:t>
            </a:r>
          </a:p>
        </p:txBody>
      </p:sp>
    </p:spTree>
    <p:extLst>
      <p:ext uri="{BB962C8B-B14F-4D97-AF65-F5344CB8AC3E}">
        <p14:creationId xmlns:p14="http://schemas.microsoft.com/office/powerpoint/2010/main" val="763418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55879-B323-D016-D6B0-454268C3EB3D}"/>
              </a:ext>
            </a:extLst>
          </p:cNvPr>
          <p:cNvSpPr>
            <a:spLocks noGrp="1"/>
          </p:cNvSpPr>
          <p:nvPr>
            <p:ph type="title"/>
          </p:nvPr>
        </p:nvSpPr>
        <p:spPr/>
        <p:txBody>
          <a:bodyPr/>
          <a:lstStyle/>
          <a:p>
            <a:r>
              <a:rPr lang="en-US" dirty="0"/>
              <a:t>Choosing between Waterfall and Agile</a:t>
            </a:r>
          </a:p>
        </p:txBody>
      </p:sp>
      <p:sp>
        <p:nvSpPr>
          <p:cNvPr id="3" name="Content Placeholder 2">
            <a:extLst>
              <a:ext uri="{FF2B5EF4-FFF2-40B4-BE49-F238E27FC236}">
                <a16:creationId xmlns:a16="http://schemas.microsoft.com/office/drawing/2014/main" id="{6C3C96A8-BE54-AEC9-15B7-24F273F84428}"/>
              </a:ext>
            </a:extLst>
          </p:cNvPr>
          <p:cNvSpPr>
            <a:spLocks noGrp="1"/>
          </p:cNvSpPr>
          <p:nvPr>
            <p:ph idx="1"/>
          </p:nvPr>
        </p:nvSpPr>
        <p:spPr/>
        <p:txBody>
          <a:bodyPr>
            <a:normAutofit fontScale="85000" lnSpcReduction="10000"/>
          </a:bodyPr>
          <a:lstStyle/>
          <a:p>
            <a:r>
              <a:rPr lang="en-US" dirty="0"/>
              <a:t>Project Dynamics: Agile suits evolving requirements, while Waterfall fits projects which have clearly defined scopes. (</a:t>
            </a:r>
            <a:r>
              <a:rPr lang="en-US" dirty="0" err="1"/>
              <a:t>InfoQ</a:t>
            </a:r>
            <a:r>
              <a:rPr lang="en-US" dirty="0"/>
              <a:t>, 2023)</a:t>
            </a:r>
          </a:p>
          <a:p>
            <a:r>
              <a:rPr lang="en-US" dirty="0"/>
              <a:t>Stakeholder Engagement: Agile is dependent on continuous feedback; Waterfall is ideal when requirements are static. (Agile Alliance, 2024).</a:t>
            </a:r>
          </a:p>
          <a:p>
            <a:r>
              <a:rPr lang="en-US" dirty="0"/>
              <a:t>Team Skills: Agile encourages cross-functionality and collaboration among teams, while Waterfall is more suited for small or already well rounded teams. (Tona et al., 2022.)</a:t>
            </a:r>
          </a:p>
          <a:p>
            <a:r>
              <a:rPr lang="en-US" dirty="0"/>
              <a:t>Risk Management: Agile allows for incremental risk mitigation throughout the life cycle of the project. Waterfall identifies risks almost exclusively during the planning phase. (Schmitz et al., 2019.)</a:t>
            </a:r>
          </a:p>
        </p:txBody>
      </p:sp>
    </p:spTree>
    <p:extLst>
      <p:ext uri="{BB962C8B-B14F-4D97-AF65-F5344CB8AC3E}">
        <p14:creationId xmlns:p14="http://schemas.microsoft.com/office/powerpoint/2010/main" val="881620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EE2FD-7535-9B19-1CC0-143DDC5C412A}"/>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B683BAA8-1825-7133-36FA-D0DA9873CC9F}"/>
              </a:ext>
            </a:extLst>
          </p:cNvPr>
          <p:cNvSpPr>
            <a:spLocks noGrp="1"/>
          </p:cNvSpPr>
          <p:nvPr>
            <p:ph idx="1"/>
          </p:nvPr>
        </p:nvSpPr>
        <p:spPr/>
        <p:txBody>
          <a:bodyPr>
            <a:normAutofit fontScale="92500" lnSpcReduction="10000"/>
          </a:bodyPr>
          <a:lstStyle/>
          <a:p>
            <a:pPr>
              <a:buFont typeface="Arial" panose="020B0604020202020204" pitchFamily="34" charset="0"/>
              <a:buChar char="•"/>
            </a:pPr>
            <a:r>
              <a:rPr lang="en-US" dirty="0"/>
              <a:t>Agile Alliance. (2024). "The Agile Manifesto." Retrieved from https://www.agilealliance.org/agile101/the-agile-manifesto/</a:t>
            </a:r>
          </a:p>
          <a:p>
            <a:pPr>
              <a:buFont typeface="Arial" panose="020B0604020202020204" pitchFamily="34" charset="0"/>
              <a:buChar char="•"/>
            </a:pPr>
            <a:r>
              <a:rPr lang="en-US" dirty="0" err="1"/>
              <a:t>InfoQ</a:t>
            </a:r>
            <a:r>
              <a:rPr lang="en-US" dirty="0"/>
              <a:t>. (2023). "Building Great Scrum Teams." Retrieved from https://www.infoq.com/articles/great-scrum-team/</a:t>
            </a:r>
          </a:p>
          <a:p>
            <a:pPr>
              <a:buFont typeface="Arial" panose="020B0604020202020204" pitchFamily="34" charset="0"/>
              <a:buChar char="•"/>
            </a:pPr>
            <a:r>
              <a:rPr lang="en-US" dirty="0"/>
              <a:t>Schmitz, K., et al. (2019). "User Engagement in Hybrid Agile Methodology." IEEE Software.</a:t>
            </a:r>
          </a:p>
          <a:p>
            <a:pPr>
              <a:buFont typeface="Arial" panose="020B0604020202020204" pitchFamily="34" charset="0"/>
              <a:buChar char="•"/>
            </a:pPr>
            <a:r>
              <a:rPr lang="en-US" dirty="0"/>
              <a:t>Tona, C., et al. (2022). "</a:t>
            </a:r>
            <a:r>
              <a:rPr lang="en-US" dirty="0" err="1"/>
              <a:t>Scrumlity</a:t>
            </a:r>
            <a:r>
              <a:rPr lang="en-US" dirty="0"/>
              <a:t> Framework." Programming and Computer Software.</a:t>
            </a:r>
          </a:p>
        </p:txBody>
      </p:sp>
    </p:spTree>
    <p:extLst>
      <p:ext uri="{BB962C8B-B14F-4D97-AF65-F5344CB8AC3E}">
        <p14:creationId xmlns:p14="http://schemas.microsoft.com/office/powerpoint/2010/main" val="9007294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26</TotalTime>
  <Words>477</Words>
  <Application>Microsoft Office PowerPoint</Application>
  <PresentationFormat>Widescreen</PresentationFormat>
  <Paragraphs>33</Paragraphs>
  <Slides>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Tw Cen MT</vt:lpstr>
      <vt:lpstr>Circuit</vt:lpstr>
      <vt:lpstr>Ryan Blackburn</vt:lpstr>
      <vt:lpstr>Agile methodology</vt:lpstr>
      <vt:lpstr>Agile Roles</vt:lpstr>
      <vt:lpstr>Agile Phases</vt:lpstr>
      <vt:lpstr>Comparison to Waterfall Model</vt:lpstr>
      <vt:lpstr>Choosing between Waterfall and Agile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Blackburn, Ryan</dc:creator>
  <cp:lastModifiedBy>Blackburn, Ryan</cp:lastModifiedBy>
  <cp:revision>7</cp:revision>
  <dcterms:created xsi:type="dcterms:W3CDTF">2024-12-15T23:52:22Z</dcterms:created>
  <dcterms:modified xsi:type="dcterms:W3CDTF">2024-12-16T00:18:55Z</dcterms:modified>
</cp:coreProperties>
</file>